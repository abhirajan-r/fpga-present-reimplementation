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DFC77-8847-CE4E-A7C6-38C110E76B2E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F0009-B020-9A4D-B8D8-8CD3B1629EC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9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19456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pic>
        <p:nvPicPr>
          <p:cNvPr id="3" name="Image 0" descr="/home/claude/work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0233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REVIEW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5544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Implementation of PRESENT Algorithm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Improved Security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Cryptography for Resource-Constrained IoT Devices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3543" y="4425696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0664" y="443484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Cipher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9464" y="4434840"/>
            <a:ext cx="2020824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569464" y="443484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SPN / 64-bit Block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91456" y="4434840"/>
            <a:ext cx="2404872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791456" y="443484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Iterative Design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97496" y="4434840"/>
            <a:ext cx="2116836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97496" y="4434840"/>
            <a:ext cx="2116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Key-Dependent S-box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1520" y="5394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Vallish Kumar Reddy, Rao Surya, Akhil Reddy, P. Sathish Kumar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Electronics &amp; Communication Engineering, Amrita School of Engineering, Bengaluru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ICECA 2019 (IEEE), pp. 404–409</a:t>
            </a:r>
            <a:endParaRPr lang="en-US" sz="14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E51CE965-5B14-AB61-DA2D-B00A7E4833C9}"/>
              </a:ext>
            </a:extLst>
          </p:cNvPr>
          <p:cNvSpPr/>
          <p:nvPr/>
        </p:nvSpPr>
        <p:spPr>
          <a:xfrm>
            <a:off x="731520" y="5017176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F54A8BB0-9F30-4A4E-1688-6D6AF3656064}"/>
              </a:ext>
            </a:extLst>
          </p:cNvPr>
          <p:cNvSpPr/>
          <p:nvPr/>
        </p:nvSpPr>
        <p:spPr>
          <a:xfrm>
            <a:off x="3073824" y="5017176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731B927E-08D5-C2F2-5933-F3CFEAE55604}"/>
              </a:ext>
            </a:extLst>
          </p:cNvPr>
          <p:cNvSpPr/>
          <p:nvPr/>
        </p:nvSpPr>
        <p:spPr>
          <a:xfrm>
            <a:off x="4846320" y="5017176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1B01094-7433-328F-D4EC-10BD7DEFA97B}"/>
              </a:ext>
            </a:extLst>
          </p:cNvPr>
          <p:cNvSpPr/>
          <p:nvPr/>
        </p:nvSpPr>
        <p:spPr>
          <a:xfrm>
            <a:off x="536364" y="4991277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250" b="1" dirty="0">
                <a:solidFill>
                  <a:srgbClr val="FFFFFF"/>
                </a:solidFill>
                <a:latin typeface="Calibri" pitchFamily="34" charset="0"/>
              </a:rPr>
              <a:t>Presenting By :</a:t>
            </a:r>
            <a:endParaRPr lang="en-US" sz="12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0EB9E577-ED67-C524-FB5A-AEF04E4B0F2E}"/>
              </a:ext>
            </a:extLst>
          </p:cNvPr>
          <p:cNvSpPr/>
          <p:nvPr/>
        </p:nvSpPr>
        <p:spPr>
          <a:xfrm>
            <a:off x="2853648" y="5017176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250" b="1" dirty="0">
                <a:solidFill>
                  <a:srgbClr val="FFFFFF"/>
                </a:solidFill>
                <a:latin typeface="Calibri" pitchFamily="34" charset="0"/>
              </a:rPr>
              <a:t>Kaviya M</a:t>
            </a:r>
            <a:endParaRPr lang="en-US" sz="125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710F1DC1-27BB-23A6-4039-26F0BDC12874}"/>
              </a:ext>
            </a:extLst>
          </p:cNvPr>
          <p:cNvSpPr/>
          <p:nvPr/>
        </p:nvSpPr>
        <p:spPr>
          <a:xfrm>
            <a:off x="4654296" y="5004227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sz="1250" b="1" dirty="0">
                <a:solidFill>
                  <a:srgbClr val="FFFFFF"/>
                </a:solidFill>
                <a:latin typeface="Calibri" pitchFamily="34" charset="0"/>
              </a:rPr>
              <a:t>Abhirajan 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" name="Image 0" descr="/home/claude/work/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5836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384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6" name="Image 1" descr="/home/claude/work/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09344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38074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Growth of IoT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417320" y="1746504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web-connected smart objects, sensors and embedded controllers now communicate and act on each other's data with minimal human involvement.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10" name="Image 2" descr="/home/claude/work/icons/warning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7980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56946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Security Threats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417320" y="2935224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Low-end, resource-constrained nodes (RFID tags, sensors, controllers) are highly vulnerable to data breaches and physical attacks.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14" name="Image 3" descr="/home/claude/work/icons/feath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8678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5818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Lightweight Cryptography (LWC)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417320" y="4123944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cryptography is too costly to embed in constrained devices; LWC saves area, power and cost while still securing data.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18" name="Image 4" descr="/home/claude/work/icons/microchi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17550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94690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FPGAs + PRESENT for Hardware Security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1417320" y="5312664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FPGA hardware is well suited to symmetric ciphers; PRESENT (ISO/IEC 29192-2, 2012) is a leading ultra-lightweight block cipher.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635240" y="1417320"/>
            <a:ext cx="4023360" cy="498348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90956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Paper's Twin Objectives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790956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79095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Minimization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909560" y="3456432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iterative architecture that trims hardware footprint — ideal for RFID tags and other resource-constrained devices.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909560" y="4617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790956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Improvement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909560" y="5559552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modified key-dependent S-box architecture to better resist cryptanalysis in IoT deployments prone to data breaches.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" name="Image 0" descr="/home/claude/work/icons/key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5836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384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Cipher: Algorithm Overview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Ultra-lightweight Substitution-Permutation Network (SPN) block cipher; standardized as ISO/IEC 29192-2 (2012)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64-bit plaintext block; key size of 80-bit or 128-bit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rounds, each combining AddRoundKey → S-boxLayer → pLayer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S-box layer: 16 × 4-bit non-linear substitution boxes (the “heart” of PRESENT)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pLayer: bit permutation that ensures the Avalanche effect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schedule: 61-bit key rotation, S-box update on top bits, 5-bit round-counter XOR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720840" y="1371600"/>
            <a:ext cx="5137977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/home/claude/work/images/img-002-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54480"/>
            <a:ext cx="4772217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5897880"/>
            <a:ext cx="4772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PRESENT block diagram (initial round + 31 rounds)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" name="Image 0" descr="/home/claude/work/icons/diagram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5836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384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Hardware Architectures (Literature)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EAF3F6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work/images/img-003-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23" y="1737360"/>
            <a:ext cx="2657955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1788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Loop-Based Architecture [13]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4636008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encryption round executed per clock cycle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datapath across all 31 rounds → power-efficient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80-bit &amp; 64-bit MUXes switch between load and encrypt states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32 cycles — but larger MUXes increase area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355080" y="150876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EAF3F6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2" descr="/home/claude/work/images/img-003-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903" y="1737360"/>
            <a:ext cx="2464475" cy="2331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9400" y="41788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Iterative Architecture [14]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629400" y="4636008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data &amp; key 8 bits/cycle: 10 cycles (80-bit key) or 16 cycles (128-bit)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8-bit 2:1 MUX → reduced area vs. loop-based design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41 cycles (80-bit) / 47 cycles (128-bit)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149 FF, 77 XOR gates, 17 S-boxes, P-box + bit rotator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" name="Image 0" descr="/home/claude/work/icons/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5836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384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08760"/>
            <a:ext cx="462303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work/images/img-004-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4257276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806440"/>
            <a:ext cx="4257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4-bit Iterative Architecture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S-box pool enables the key-dependent design)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0" y="14630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4-bit Iterative Architecture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486400" y="1965960"/>
            <a:ext cx="6355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 width reduced from 8-bit to 4-bit → slightly smaller area than [14]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takes 20 cycles (80-bit key) / 32 cycles (128-bit key)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latency: 51 cycles (80-bit) / 63 cycles (128-bit)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149 FF, 73 XOR gates, 17 S-boxes (P-box &amp; bit rotator need no extra logic)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486400" y="406908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Modified Key-Dependent S-box Architecture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486400" y="4572000"/>
            <a:ext cx="6355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of 16 candidate S-boxes (from [12]) meeting differential &amp; linear cryptanalysis criteria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round, XOR-reduction of key bits produces a 4-bit value that selects the active S-box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key copy is shifted independently of normal key update → decryption becomes practical (fixes [12]'s flaw)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23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attacker's search space by 2⁴ (16×) over conventional PRESENT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AF3F6"/>
          </a:solidFill>
          <a:ln/>
        </p:spPr>
      </p:sp>
      <p:pic>
        <p:nvPicPr>
          <p:cNvPr id="3" name="Image 0" descr="/home/claude/work/icons/char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5836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3840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— FPGA xc6slx25-3fgg484 (Spartan-6)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Loop-Based [13] – 80-bit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Loop-Based [13] – 128-bit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Iterative-8 [14] – 80-bit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Iterative-8 [14] – 128-bit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4-bit – 80-bit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4-bit – 128-bit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236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66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Loop-Based and [14] 8-bit Iterative are the reference architectures; </a:t>
            </a:r>
            <a:r>
              <a:rPr lang="en-IN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4-bit” uses fewer Slices and IOBs than [14]; LUT savings (3–4 fewer) are evident on Spartan-3 and Virtex-4 targets. Latency increases by 10–16 extra cycles.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635240" y="1463040"/>
            <a:ext cx="4023360" cy="461772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  <a:effectLst>
            <a:outerShdw blurRad="889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5528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955280" y="233172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iterative design trims LUTs vs. the 8-bit design, but raises latency by ~25%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key-dependent S-box raises the brute-force search space by 16× (2⁴) with a modest area cost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impractical-decryption flaw of the original key-dependent S-box concept [12]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designs verified via Xilinx ISE simulation for the paper's test vector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further area optimization of the key-dependent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19456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pic>
        <p:nvPicPr>
          <p:cNvPr id="3" name="Image 0" descr="/home/claude/work/icon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0233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947809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sz="1900" b="1" dirty="0">
                <a:solidFill>
                  <a:srgbClr val="FFFFFF"/>
                </a:solidFill>
                <a:latin typeface="Calibri" pitchFamily="34" charset="0"/>
              </a:rPr>
              <a:t>Core Reference: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19926" y="2586977"/>
            <a:ext cx="7609674" cy="291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[4] C. A. Lara-Nino, A. Diaz-Perez and M. Morales-Sandoval, "Lightweight Hardware Architectures for the PRESENT Cipher in FPGA," IEEE TCAS-I, vol. 64, no. 9, pp. 2544-2555, Sept. 2017.
[11] ISO/IEC 29192-2: Information Technology - Security Techniques - Lightweight Cryptography - Part 2: Block Ciphers, Jan. 2012.
[12] S. S. M. AlDabbagh and I. F. T. A. Shaikhli, "Improving PRESENT Lightweight Algorithm," ACSAT 2013, Kuching, pp. 254-258.
[13] Rolfes C., Poschmann A., Leander G., Paar C., "Ultra-Lightweight Implementations for Smart Devices - Security for 1000 Gate Equivalents," CARDIS 2008, LNCS vol. 5189, Springer.
[14] N. Hanley, M. O'Neill, "Hardware Comparison of the ISO/IEC 29192-2 Block Ciphers," IEEE ISVLSI, pp. 57-62, Aug. 2012.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IN" sz="15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V. K. Reddy, R. Surya, A. Reddy, P. Sathish Kumar, “FPGA Implementation of PRESENT Algorithm with Improved Security,” Proc. ICECA 2019, IEEE, pp. 404–409.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Implementation of PRESENT Algorithm with Improved Security</dc:title>
  <dc:subject>PptxGenJS Presentation</dc:subject>
  <dc:creator>Base Paper Review</dc:creator>
  <cp:lastModifiedBy>ABHI RAJAN R</cp:lastModifiedBy>
  <cp:revision>2</cp:revision>
  <dcterms:created xsi:type="dcterms:W3CDTF">2026-06-15T04:44:52Z</dcterms:created>
  <dcterms:modified xsi:type="dcterms:W3CDTF">2026-06-23T02:57:00Z</dcterms:modified>
</cp:coreProperties>
</file>