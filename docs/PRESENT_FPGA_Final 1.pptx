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3654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paper reference (ICECA 2019), and the two architectures you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SPN structure. AddRoundKey XORs data with top 64 bits of key. S-box substitutes 4-bit nibbles. P-box permutes all 64 bits. Repeats 31 times. Final ARK gives ciphertext.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1 is area-optimized. Architecture 2 adds 16 different S-boxes chosen by key XOR each 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file. sbox, pbox, key_transform are shared between both architectures.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Compilation successful. 320 logic elements &lt; 1% of MAX 10. This proves 4-bit iterative is very area efficient.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3 tests PASS. Spec vectors 1 and 4 are from ISO/IEC. Paper vector uses same input as the paper. KD ciphertext is always different — proving key-dependent S-box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each signal. Explain start pulse, round_cnt counting, done pulse, and cipher locked in at end. Show that cipher_kd is a different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PRESENT: attacker needs 2^4 guesses per S-box. KD: 2^8 per S-box because it can be any of 16. Same input produces different output — demonstrated in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advantages: 38% faster (33 vs 51 cycles), verified with 3 ISO/IEC spec vectors vs paper's 1 custom vector, and we fully implemented the KD architecture which the paper only proposed.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PASS lines and show the changing S-box selectors (sel=0, sel=13, sel=14...) in the KD architecture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with: PRESENT is standardized for IoT. We verified it, made it faster, and demonstrated the security improvement of the Key Dependent architecture. Thank the reviewers.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457200"/>
            <a:ext cx="164592" cy="16459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960120"/>
            <a:ext cx="164592" cy="16459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463040"/>
            <a:ext cx="164592" cy="16459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86600" y="457200"/>
            <a:ext cx="164592" cy="16459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960120"/>
            <a:ext cx="164592" cy="16459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1463040"/>
            <a:ext cx="164592" cy="16459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0" y="457200"/>
            <a:ext cx="164592" cy="16459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960120"/>
            <a:ext cx="164592" cy="16459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0" y="1463040"/>
            <a:ext cx="164592" cy="16459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457200"/>
            <a:ext cx="164592" cy="16459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92440" y="960120"/>
            <a:ext cx="164592" cy="16459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463040"/>
            <a:ext cx="164592" cy="16459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0" y="457200"/>
            <a:ext cx="164592" cy="16459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960120"/>
            <a:ext cx="164592" cy="16459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0" y="1463040"/>
            <a:ext cx="164592" cy="16459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914400"/>
            <a:ext cx="2560320" cy="2560320"/>
          </a:xfrm>
          <a:prstGeom prst="roundRect">
            <a:avLst>
              <a:gd name="adj" fmla="val 5357"/>
            </a:avLst>
          </a:prstGeom>
          <a:solidFill>
            <a:srgbClr val="132337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234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</a:rPr>
              <a:t>FPGA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0F2FE"/>
                </a:solidFill>
              </a:rPr>
              <a:t>PRESENT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20848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0F2FE"/>
                </a:solidFill>
              </a:rPr>
              <a:t>CIPHER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64592" y="1280160"/>
            <a:ext cx="292608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0" y="1280160"/>
            <a:ext cx="292608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1664208"/>
            <a:ext cx="292608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17520" y="1664208"/>
            <a:ext cx="292608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4592" y="2048256"/>
            <a:ext cx="292608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17520" y="2048256"/>
            <a:ext cx="292608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4592" y="2432304"/>
            <a:ext cx="292608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17520" y="2432304"/>
            <a:ext cx="292608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9144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4A3B8"/>
                </a:solidFill>
              </a:rPr>
              <a:t>FPGA Implementation of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566160" y="13716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PRESENT Algorithm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3566160" y="20116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E0F2FE"/>
                </a:solidFill>
              </a:rPr>
              <a:t>with Improved Security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3566160" y="2697480"/>
            <a:ext cx="50292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66160" y="2834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Reference: </a:t>
            </a:r>
            <a:r>
              <a:rPr lang="en-US" sz="1100" dirty="0">
                <a:solidFill>
                  <a:srgbClr val="E0F2FE"/>
                </a:solidFill>
              </a:rPr>
              <a:t>ICECA 2019 — Amrita School of Engineering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566160" y="3154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Tools: </a:t>
            </a:r>
            <a:r>
              <a:rPr lang="en-US" sz="1100" dirty="0">
                <a:solidFill>
                  <a:srgbClr val="E0F2FE"/>
                </a:solidFill>
              </a:rPr>
              <a:t>Quartus Prime Lite 18.0  |  ModelSim-Altera 10.5b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566160" y="3474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Device: </a:t>
            </a:r>
            <a:r>
              <a:rPr lang="en-US" sz="1100" dirty="0">
                <a:solidFill>
                  <a:srgbClr val="E0F2FE"/>
                </a:solidFill>
              </a:rPr>
              <a:t>DE10-Lite  |  Intel MAX 10  —  10M50DAF484C7G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566160" y="3794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Language: </a:t>
            </a:r>
            <a:r>
              <a:rPr lang="en-US" sz="1100" dirty="0">
                <a:solidFill>
                  <a:srgbClr val="E0F2FE"/>
                </a:solidFill>
              </a:rPr>
              <a:t>Verilog HDL</a:t>
            </a:r>
            <a:endParaRPr lang="en-US" sz="11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F761728-47DC-A1D4-22E3-718662A7CCB0}"/>
              </a:ext>
            </a:extLst>
          </p:cNvPr>
          <p:cNvSpPr txBox="1"/>
          <p:nvPr/>
        </p:nvSpPr>
        <p:spPr>
          <a:xfrm>
            <a:off x="164592" y="3579877"/>
            <a:ext cx="485698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PRESENTED BY: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KAVIYA.M</a:t>
            </a:r>
          </a:p>
          <a:p>
            <a:r>
              <a:rPr lang="en-US" sz="1400" dirty="0">
                <a:solidFill>
                  <a:schemeClr val="bg2"/>
                </a:solidFill>
              </a:rPr>
              <a:t>ABHIRAJAN.R</a:t>
            </a:r>
          </a:p>
          <a:p>
            <a:r>
              <a:rPr lang="en-US" sz="1400" dirty="0">
                <a:solidFill>
                  <a:schemeClr val="bg2"/>
                </a:solidFill>
              </a:rPr>
              <a:t>SASTRA DEEMED TO BE UNIVERSITY</a:t>
            </a:r>
            <a:endParaRPr lang="en-IN" sz="14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2A"/>
                </a:solidFill>
              </a:rPr>
              <a:t>PRESENT Algorithm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</a:rPr>
              <a:t>Substitution-Permutation Network — 31 Rounds + Final AddRoundKey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1463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Plaintext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64-bit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37360" y="1691640"/>
            <a:ext cx="36576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118872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0" y="1188720"/>
            <a:ext cx="1463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AddRoundKey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XOR key[79:16]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36576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118872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94760" y="1188720"/>
            <a:ext cx="1463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S-box Layer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16 × 4-bit subs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57800" y="1691640"/>
            <a:ext cx="36576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0" y="118872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60720" y="1188720"/>
            <a:ext cx="1463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P-box Layer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Bit permutation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23760" y="1691640"/>
            <a:ext cx="36576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118872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26680" y="1188720"/>
            <a:ext cx="1463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Ciphertext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64-bit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52160" y="2194560"/>
            <a:ext cx="0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2103120" y="2651760"/>
            <a:ext cx="3749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103120" y="2194560"/>
            <a:ext cx="0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200400" y="2633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× 31 rounds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28800" y="3017520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132337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0" y="3017520"/>
            <a:ext cx="393192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2FE"/>
                </a:solidFill>
              </a:rPr>
              <a:t>Key Schedule  |  80-bit key  →  61-bit rotate  →  S-box top 4 bits  →  XOR round counter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1188720"/>
            <a:ext cx="100584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1234440"/>
            <a:ext cx="10058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64 bits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1664208"/>
            <a:ext cx="10058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Block Size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022592" y="1188720"/>
            <a:ext cx="100584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22592" y="1234440"/>
            <a:ext cx="10058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80 bits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22592" y="1664208"/>
            <a:ext cx="10058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Key Size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101584" y="1188720"/>
            <a:ext cx="100584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01584" y="1234440"/>
            <a:ext cx="10058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31 + 1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101584" y="1664208"/>
            <a:ext cx="10058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Rounds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943600" y="2240280"/>
            <a:ext cx="100584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2286000"/>
            <a:ext cx="10058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4-bit × 16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0" y="2715768"/>
            <a:ext cx="10058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S-box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022592" y="2240280"/>
            <a:ext cx="100584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22592" y="2286000"/>
            <a:ext cx="10058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16i mod 63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22592" y="2715768"/>
            <a:ext cx="10058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P-box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101584" y="2240280"/>
            <a:ext cx="100584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01584" y="2286000"/>
            <a:ext cx="10058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ISO/IEC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101584" y="2715768"/>
            <a:ext cx="10058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Standard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2A"/>
                </a:solidFill>
              </a:rPr>
              <a:t>Implemented Architectures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</a:rPr>
              <a:t>Two designs from the paper — both synthesized and simulated on Intel MAX 10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374904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023360" cy="548640"/>
          </a:xfrm>
          <a:prstGeom prst="roundRect">
            <a:avLst>
              <a:gd name="adj" fmla="val 25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Architecture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62763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4-bit Iterative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(Area Optimized)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2677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5F"/>
                </a:solidFill>
              </a:rPr>
              <a:t>3-state FSM: IDLE → ENC → DONE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5F"/>
                </a:solidFill>
              </a:rPr>
              <a:t>Parallel 64-bit plaintext load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443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5F"/>
                </a:solidFill>
              </a:rPr>
              <a:t>One round per clock cycle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826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5F"/>
                </a:solidFill>
              </a:rPr>
              <a:t>33 total cycles to encrypt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210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5F"/>
                </a:solidFill>
              </a:rPr>
              <a:t>4-bit MUX — saves area vs 8-bit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9593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5F"/>
                </a:solidFill>
              </a:rPr>
              <a:t>Standard fixed S-box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5F"/>
                </a:solidFill>
              </a:rPr>
              <a:t>Verified: ISO/IEC PRESENT spec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051560"/>
            <a:ext cx="4023360" cy="374904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051560"/>
            <a:ext cx="4023360" cy="548640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0515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Architecture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162763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</a:rPr>
              <a:t>Modified Key Dependent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</a:rPr>
              <a:t>(Security Optimized)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22677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65A82"/>
                </a:solidFill>
              </a:rPr>
              <a:t>Inherits 4-bit iterative structure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65A82"/>
                </a:solidFill>
              </a:rPr>
              <a:t>Fixed S-box → 16 key-dependent S-boxes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29443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65A82"/>
                </a:solidFill>
              </a:rPr>
              <a:t>sel = key[79:76] XOR key[75:72] XOR ...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2826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65A82"/>
                </a:solidFill>
              </a:rPr>
              <a:t>Different S-box chosen each round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6210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65A82"/>
                </a:solidFill>
              </a:rPr>
              <a:t>Same input → different ciphertext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39593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65A82"/>
                </a:solidFill>
              </a:rPr>
              <a:t>Security factor increased by 2⁴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4297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65A82"/>
                </a:solidFill>
              </a:rPr>
              <a:t>Harder to break via cryptanalysis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Verilog Implementation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</a:rPr>
              <a:t>7 Verilog files — all synthesized successfully in Quartus Prime Lite 18.0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475488"/>
          </a:xfrm>
          <a:prstGeom prst="roundRect">
            <a:avLst>
              <a:gd name="adj" fmla="val 13462"/>
            </a:avLst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79576"/>
            <a:ext cx="18288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sbox.v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0" y="1179576"/>
            <a:ext cx="64922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F2FE"/>
                </a:solidFill>
              </a:rPr>
              <a:t>Standard PRESENT S-box — 4-bit lookup (C,5,6,B,9,0,A,D,3,E,F,8,4,7,1,2)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682496"/>
            <a:ext cx="8595360" cy="475488"/>
          </a:xfrm>
          <a:prstGeom prst="roundRect">
            <a:avLst>
              <a:gd name="adj" fmla="val 13462"/>
            </a:avLst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19072"/>
            <a:ext cx="18288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pbox.v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1719072"/>
            <a:ext cx="64922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F2FE"/>
                </a:solidFill>
              </a:rPr>
              <a:t>64-bit bit permutation — P(i) = 16×i mod 63, P(63)=63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221992"/>
            <a:ext cx="8595360" cy="475488"/>
          </a:xfrm>
          <a:prstGeom prst="roundRect">
            <a:avLst>
              <a:gd name="adj" fmla="val 13462"/>
            </a:avLst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58568"/>
            <a:ext cx="18288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key_transform.v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2258568"/>
            <a:ext cx="64922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F2FE"/>
                </a:solidFill>
              </a:rPr>
              <a:t>80-bit key schedule — 61-bit rotate + S-box top 4 bits + round XOR bits[19:15]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61488"/>
            <a:ext cx="8595360" cy="475488"/>
          </a:xfrm>
          <a:prstGeom prst="roundRect">
            <a:avLst>
              <a:gd name="adj" fmla="val 13462"/>
            </a:avLst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98064"/>
            <a:ext cx="18288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present_4bit.v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2798064"/>
            <a:ext cx="64922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F2FE"/>
                </a:solidFill>
              </a:rPr>
              <a:t>4-bit Iterative top-level — FSM + datapath + parallel plaintext/key load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300984"/>
            <a:ext cx="8595360" cy="475488"/>
          </a:xfrm>
          <a:prstGeom prst="roundRect">
            <a:avLst>
              <a:gd name="adj" fmla="val 13462"/>
            </a:avLst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337560"/>
            <a:ext cx="18288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kd_sbox.v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86000" y="3337560"/>
            <a:ext cx="64922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F2FE"/>
                </a:solidFill>
              </a:rPr>
              <a:t>16 key-dependent S-boxes with 4-bit selector — from paper cryptanalysis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840480"/>
            <a:ext cx="8595360" cy="475488"/>
          </a:xfrm>
          <a:prstGeom prst="roundRect">
            <a:avLst>
              <a:gd name="adj" fmla="val 13462"/>
            </a:avLst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877056"/>
            <a:ext cx="18288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present_kd.v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0" y="3877056"/>
            <a:ext cx="64922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F2FE"/>
                </a:solidFill>
              </a:rPr>
              <a:t>Modified Key Dependent top-level — sel = XOR of key[79:76..67:64]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379976"/>
            <a:ext cx="8595360" cy="475488"/>
          </a:xfrm>
          <a:prstGeom prst="roundRect">
            <a:avLst>
              <a:gd name="adj" fmla="val 13462"/>
            </a:avLst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416552"/>
            <a:ext cx="18288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present_tb.v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86000" y="4416552"/>
            <a:ext cx="64922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F2FE"/>
                </a:solidFill>
              </a:rPr>
              <a:t>Testbench — 3 test vectors, round-by-round $display, both architectures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2A"/>
                </a:solidFill>
              </a:rPr>
              <a:t>Quartus Compilation — Successful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</a:rPr>
              <a:t>Flow Status: Successful  |  0 errors, 15 warnings  |  Intel MAX 10 — 10M50DAF484C7G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4864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100584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0" y="10332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320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943600" y="1417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F2FE"/>
                </a:solidFill>
              </a:rPr>
              <a:t>/ 49,760  &lt; 1%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43600" y="16276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Logic Elements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0" y="2029968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2057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218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943600" y="24414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F2FE"/>
                </a:solidFill>
              </a:rPr>
              <a:t>registers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26517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Total Registers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43600" y="3054096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0" y="30815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212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943600" y="346557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F2FE"/>
                </a:solidFill>
              </a:rPr>
              <a:t>/ 360  59%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3600" y="367588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Total Pins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943600" y="4078224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052E16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0" y="410565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</a:rPr>
              <a:t>0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5943600" y="44897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F2FE"/>
                </a:solidFill>
              </a:rPr>
              <a:t>errors  ✓ PASS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943600" y="470001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Compile Status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2A"/>
                </a:solidFill>
              </a:rPr>
              <a:t>ModelSim Simulation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</a:rPr>
              <a:t>3 test vectors — both architectures — all verified in RTL simulation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30352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0" y="1005840"/>
            <a:ext cx="3200400" cy="1207008"/>
          </a:xfrm>
          <a:prstGeom prst="roundRect">
            <a:avLst>
              <a:gd name="adj" fmla="val 7576"/>
            </a:avLst>
          </a:prstGeom>
          <a:solidFill>
            <a:srgbClr val="0D1B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10424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</a:rPr>
              <a:t>Spec Vector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806440" y="12801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PT: 0000...0000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806440" y="14813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4bit: 5579c1387b228445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806440" y="16824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KD: 48047391ef1488ba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806440" y="19019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2C55E"/>
                </a:solidFill>
              </a:rPr>
              <a:t>✓ PASS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15000" y="2304288"/>
            <a:ext cx="3200400" cy="1207008"/>
          </a:xfrm>
          <a:prstGeom prst="roundRect">
            <a:avLst>
              <a:gd name="adj" fmla="val 7576"/>
            </a:avLst>
          </a:prstGeom>
          <a:solidFill>
            <a:srgbClr val="0D1B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06440" y="23408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</a:rPr>
              <a:t>Spec Vector 4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06440" y="257860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PT: FFFF...FFFF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806440" y="277977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4bit: 3333dcd3213210d2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806440" y="29809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KD: 3a56ebfd108fac36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806440" y="32004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2C55E"/>
                </a:solidFill>
              </a:rPr>
              <a:t>✓ PASS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715000" y="3656076"/>
            <a:ext cx="3200400" cy="1487424"/>
          </a:xfrm>
          <a:prstGeom prst="roundRect">
            <a:avLst>
              <a:gd name="adj" fmla="val 7576"/>
            </a:avLst>
          </a:prstGeom>
          <a:solidFill>
            <a:srgbClr val="0D1B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06440" y="36393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</a:rPr>
              <a:t>Paper Input Vector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806440" y="38770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PT: 0000...3b1e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806440" y="4110228"/>
            <a:ext cx="3017520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4bit: 21eb3cf6625a7db3</a:t>
            </a:r>
          </a:p>
          <a:p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* Our output verified against ISO/IEC 29192-2 spec. Paper's output uses Xilinx ISE bit-ordering convention — not the authoritative reference.</a:t>
            </a:r>
          </a:p>
        </p:txBody>
      </p:sp>
      <p:sp>
        <p:nvSpPr>
          <p:cNvPr id="21" name="Text 18"/>
          <p:cNvSpPr/>
          <p:nvPr/>
        </p:nvSpPr>
        <p:spPr>
          <a:xfrm>
            <a:off x="5859780" y="4279392"/>
            <a:ext cx="2964180" cy="1008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KD: 778c58e88a14a806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806440" y="4498848"/>
            <a:ext cx="2964180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2C55E"/>
                </a:solidFill>
              </a:rPr>
              <a:t>✓ PASS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2A"/>
                </a:solidFill>
              </a:rPr>
              <a:t>ModelSim Waveform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</a:rPr>
              <a:t>RTL waveform showing encryption flow — start → 31 rounds → done → cipher locked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8595360" cy="2468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3611880"/>
            <a:ext cx="4206240" cy="338328"/>
          </a:xfrm>
          <a:prstGeom prst="roundRect">
            <a:avLst>
              <a:gd name="adj" fmla="val 13514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47472" y="3611880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clk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554480" y="3611880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50 MHz clock — toggles throughout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709160" y="3611880"/>
            <a:ext cx="4206240" cy="338328"/>
          </a:xfrm>
          <a:prstGeom prst="roundRect">
            <a:avLst>
              <a:gd name="adj" fmla="val 13514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82312" y="3611880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89320" y="3611880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Pulse triggers encryption start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4320" y="3995928"/>
            <a:ext cx="4206240" cy="338328"/>
          </a:xfrm>
          <a:prstGeom prst="roundRect">
            <a:avLst>
              <a:gd name="adj" fmla="val 13514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" y="3995928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plaintext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554480" y="3995928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64-bit input loaded on start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09160" y="3995928"/>
            <a:ext cx="4206240" cy="338328"/>
          </a:xfrm>
          <a:prstGeom prst="roundRect">
            <a:avLst>
              <a:gd name="adj" fmla="val 13514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82312" y="3995928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round_cnt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89320" y="3995928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Counts 1 → 31 during ENC state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74320" y="4379976"/>
            <a:ext cx="4206240" cy="338328"/>
          </a:xfrm>
          <a:prstGeom prst="roundRect">
            <a:avLst>
              <a:gd name="adj" fmla="val 13514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7472" y="4379976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554480" y="4379976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Goes HIGH when cipher is ready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709160" y="4379976"/>
            <a:ext cx="4206240" cy="338328"/>
          </a:xfrm>
          <a:prstGeom prst="roundRect">
            <a:avLst>
              <a:gd name="adj" fmla="val 13514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82312" y="4379976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cipher_4bit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989320" y="4379976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Final 64-bit encrypted output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74320" y="4764024"/>
            <a:ext cx="4206240" cy="338328"/>
          </a:xfrm>
          <a:prstGeom prst="roundRect">
            <a:avLst>
              <a:gd name="adj" fmla="val 13514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7472" y="4764024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cipher_kd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554480" y="4764024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KD cipher — different value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2A"/>
                </a:solidFill>
              </a:rPr>
              <a:t>Security Improvement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</a:rPr>
              <a:t>Same plaintext + key → completely different ciphertext in Key Dependent architecture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37744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23774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Property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97480" y="1051560"/>
            <a:ext cx="283464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97480" y="1051560"/>
            <a:ext cx="28346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Standard PRESENT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(4-bit Iterative)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1051560"/>
            <a:ext cx="283464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051560"/>
            <a:ext cx="28346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Dependent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(Modified)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664208"/>
            <a:ext cx="2377440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64208"/>
            <a:ext cx="237744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S-box type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97480" y="1664208"/>
            <a:ext cx="2834640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664208"/>
            <a:ext cx="283464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(single)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1664208"/>
            <a:ext cx="2834640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664208"/>
            <a:ext cx="283464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(1 of 16)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185416"/>
            <a:ext cx="2377440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185416"/>
            <a:ext cx="237744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S-box selection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97480" y="2185416"/>
            <a:ext cx="28346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2185416"/>
            <a:ext cx="283464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the same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185416"/>
            <a:ext cx="28346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2185416"/>
            <a:ext cx="283464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of key nibbles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706624"/>
            <a:ext cx="2377440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706624"/>
            <a:ext cx="237744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changes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97480" y="2706624"/>
            <a:ext cx="2834640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97480" y="2706624"/>
            <a:ext cx="283464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77840" y="2706624"/>
            <a:ext cx="2834640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2706624"/>
            <a:ext cx="283464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227832"/>
            <a:ext cx="2377440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227832"/>
            <a:ext cx="237744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complexity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697480" y="3227832"/>
            <a:ext cx="28346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97480" y="3227832"/>
            <a:ext cx="283464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2⁴ per round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77840" y="3227832"/>
            <a:ext cx="28346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3227832"/>
            <a:ext cx="283464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2⁸ per round (16×)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749040"/>
            <a:ext cx="2377440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749040"/>
            <a:ext cx="237744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output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697480" y="3749040"/>
            <a:ext cx="2834640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97480" y="3749040"/>
            <a:ext cx="283464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identical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577840" y="3749040"/>
            <a:ext cx="2834640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0" y="3749040"/>
            <a:ext cx="283464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different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270248"/>
            <a:ext cx="2377440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270248"/>
            <a:ext cx="237744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Ciphertext (Test 1)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697480" y="4270248"/>
            <a:ext cx="28346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97480" y="4270248"/>
            <a:ext cx="283464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5579c1387b228445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577840" y="4270248"/>
            <a:ext cx="28346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77840" y="4270248"/>
            <a:ext cx="283464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48047391ef1488ba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4663440"/>
            <a:ext cx="8595360" cy="347472"/>
          </a:xfrm>
          <a:prstGeom prst="roundRect">
            <a:avLst>
              <a:gd name="adj" fmla="val 18421"/>
            </a:avLst>
          </a:prstGeom>
          <a:solidFill>
            <a:srgbClr val="052E16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Key Dependent Architecture is 16× harder to break — attacker must identify correct S-box for all 31 rounds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2A"/>
                </a:solidFill>
              </a:rPr>
              <a:t>Comparison with Base Paper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</a:rPr>
              <a:t>Our work vs ICECA 2019 paper — cross-platform, faster, and better verified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173736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51560"/>
            <a:ext cx="17373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Parameter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0" y="1051560"/>
            <a:ext cx="219456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1051560"/>
            <a:ext cx="21945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Paper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(Xilinx)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1051560"/>
            <a:ext cx="219456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1051560"/>
            <a:ext cx="21945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Our Work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(Intel MAX 10)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051560"/>
            <a:ext cx="23774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051560"/>
            <a:ext cx="23774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Observation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1627632"/>
            <a:ext cx="1737360" cy="521208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627632"/>
            <a:ext cx="1737360" cy="521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Platform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0" y="1627632"/>
            <a:ext cx="2194560" cy="52120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1627632"/>
            <a:ext cx="2194560" cy="521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Spartan-3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Virtex-4/5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51960" y="1627632"/>
            <a:ext cx="2194560" cy="52120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627632"/>
            <a:ext cx="2194560" cy="521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Intel MAX 10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DE10-Lite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92240" y="1627632"/>
            <a:ext cx="2377440" cy="52120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627632"/>
            <a:ext cx="2377440" cy="521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Cross-platform verified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2176272"/>
            <a:ext cx="1737360" cy="521208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2176272"/>
            <a:ext cx="1737360" cy="521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Tool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11680" y="2176272"/>
            <a:ext cx="219456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0" y="2176272"/>
            <a:ext cx="2194560" cy="521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Xilinx ISE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51960" y="2176272"/>
            <a:ext cx="219456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51960" y="2176272"/>
            <a:ext cx="2194560" cy="521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Quartus Prime 18.0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92240" y="2176272"/>
            <a:ext cx="23774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176272"/>
            <a:ext cx="2377440" cy="521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Modern toolchain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2724912"/>
            <a:ext cx="1737360" cy="521208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2724912"/>
            <a:ext cx="1737360" cy="521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Latency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011680" y="2724912"/>
            <a:ext cx="2194560" cy="52120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0" y="2724912"/>
            <a:ext cx="2194560" cy="521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51 cycles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(80-bit key)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51960" y="2724912"/>
            <a:ext cx="2194560" cy="521208"/>
          </a:xfrm>
          <a:prstGeom prst="rect">
            <a:avLst/>
          </a:prstGeom>
          <a:solidFill>
            <a:srgbClr val="ECFD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51960" y="2724912"/>
            <a:ext cx="2194560" cy="521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000" b="1" dirty="0">
                <a:solidFill>
                  <a:srgbClr val="065A82"/>
                </a:solidFill>
              </a:rPr>
              <a:t>33 cycles(parallel load)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92240" y="2724912"/>
            <a:ext cx="2377440" cy="52120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2724912"/>
            <a:ext cx="2377440" cy="521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000" dirty="0"/>
              <a:t>Parallel load eliminates 20 serial cycles</a:t>
            </a:r>
          </a:p>
        </p:txBody>
      </p:sp>
      <p:sp>
        <p:nvSpPr>
          <p:cNvPr id="36" name="Shape 34"/>
          <p:cNvSpPr/>
          <p:nvPr/>
        </p:nvSpPr>
        <p:spPr>
          <a:xfrm>
            <a:off x="228600" y="3273552"/>
            <a:ext cx="1737360" cy="521208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" y="3273552"/>
            <a:ext cx="1737360" cy="521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LUTs / LEs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011680" y="3273552"/>
            <a:ext cx="219456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11680" y="3273552"/>
            <a:ext cx="2194560" cy="521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175–226 LUTs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251960" y="3273552"/>
            <a:ext cx="219456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51960" y="3273552"/>
            <a:ext cx="2194560" cy="521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320 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(≈ 1 LE = 1.2 LUT)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92240" y="3273552"/>
            <a:ext cx="23774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3273552"/>
            <a:ext cx="2377440" cy="521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Comparable resource usage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28600" y="3822192"/>
            <a:ext cx="1737360" cy="521208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" y="3822192"/>
            <a:ext cx="1737360" cy="521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Test Vectors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011680" y="3822192"/>
            <a:ext cx="2194560" cy="52120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11680" y="3822192"/>
            <a:ext cx="2194560" cy="521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1 custom vector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251960" y="3822192"/>
            <a:ext cx="2194560" cy="521208"/>
          </a:xfrm>
          <a:prstGeom prst="rect">
            <a:avLst/>
          </a:prstGeom>
          <a:solidFill>
            <a:srgbClr val="ECFD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51960" y="3822192"/>
            <a:ext cx="2194560" cy="521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</a:rPr>
              <a:t>3 vectors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</a:rPr>
              <a:t>(ISO/IEC + custom)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492240" y="3822192"/>
            <a:ext cx="2377440" cy="52120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92240" y="3822192"/>
            <a:ext cx="2377440" cy="521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</a:rPr>
              <a:t>Superior verification ✓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28600" y="4370832"/>
            <a:ext cx="1737360" cy="521208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8600" y="4370832"/>
            <a:ext cx="1737360" cy="521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KD Architecture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011680" y="4370832"/>
            <a:ext cx="219456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011680" y="4370832"/>
            <a:ext cx="2194560" cy="521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Proposed only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251960" y="4370832"/>
            <a:ext cx="2194560" cy="521208"/>
          </a:xfrm>
          <a:prstGeom prst="rect">
            <a:avLst/>
          </a:prstGeom>
          <a:solidFill>
            <a:srgbClr val="ECFD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51960" y="4370832"/>
            <a:ext cx="2194560" cy="521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</a:rPr>
              <a:t>Implemented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</a:rPr>
              <a:t>simulated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492240" y="4370832"/>
            <a:ext cx="23774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92240" y="4370832"/>
            <a:ext cx="2377440" cy="521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</a:rPr>
              <a:t>Fully realized ✓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28600" y="4956048"/>
            <a:ext cx="8686800" cy="45720"/>
          </a:xfrm>
          <a:prstGeom prst="roundRect">
            <a:avLst>
              <a:gd name="adj" fmla="val 4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2A"/>
                </a:solidFill>
              </a:rPr>
              <a:t>ModelSim Transcript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</a:rPr>
              <a:t>Round-by-round output — S-box selector visible in Key Dependent architecture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029200" cy="201168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108960"/>
            <a:ext cx="5029200" cy="19202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0" y="100584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0D1B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577840" y="1143000"/>
            <a:ext cx="3200400" cy="1737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0F2FE"/>
                </a:solidFill>
              </a:rPr>
              <a:t>Test 2 — Spec Vector 4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0F2FE"/>
                </a:solidFill>
              </a:rPr>
              <a:t>KD sel changes: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0F2FE"/>
                </a:solidFill>
              </a:rPr>
              <a:t>0 → 13 → 14 → 8...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0F2FE"/>
                </a:solidFill>
              </a:rPr>
              <a:t>per round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486400" y="310896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0D1B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577840" y="3246120"/>
            <a:ext cx="3200400" cy="1645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0F2FE"/>
                </a:solidFill>
              </a:rPr>
              <a:t>Test 3 — Paper Vector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0F2FE"/>
                </a:solidFill>
              </a:rPr>
              <a:t>4-bit: 21eb3cf6...  PASS ✓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0F2FE"/>
                </a:solidFill>
              </a:rPr>
              <a:t>KD: 778c58e8... (different)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0F2FE"/>
                </a:solidFill>
              </a:rPr>
              <a:t>Simulation Complete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8595360" cy="914400"/>
          </a:xfrm>
          <a:prstGeom prst="roundRect">
            <a:avLst>
              <a:gd name="adj" fmla="val 10000"/>
            </a:avLst>
          </a:prstGeom>
          <a:solidFill>
            <a:srgbClr val="132337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23444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1B2A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07899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91B2"/>
                </a:solidFill>
              </a:rPr>
              <a:t>Correct Implementation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408176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4-bit iterative architecture verified against ISO/IEC PRESENT specification — all 3 test vectors PASS in ModelSim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011680"/>
            <a:ext cx="8595360" cy="914400"/>
          </a:xfrm>
          <a:prstGeom prst="roundRect">
            <a:avLst>
              <a:gd name="adj" fmla="val 10000"/>
            </a:avLst>
          </a:prstGeom>
          <a:solidFill>
            <a:srgbClr val="13233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24028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1B2A"/>
                </a:solidFill>
              </a:rPr>
              <a:t>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08483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</a:rPr>
              <a:t>Area Efficient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414016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Only 320 logic elements on Intel MAX 10 (&lt; 1%) — 4-bit MUX design reduces area vs loop-based and 8-bit architectures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017520"/>
            <a:ext cx="8595360" cy="914400"/>
          </a:xfrm>
          <a:prstGeom prst="roundRect">
            <a:avLst>
              <a:gd name="adj" fmla="val 10000"/>
            </a:avLst>
          </a:prstGeom>
          <a:solidFill>
            <a:srgbClr val="132337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24612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1B2A"/>
                </a:solidFill>
              </a:rPr>
              <a:t>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09067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91B2"/>
                </a:solidFill>
              </a:rPr>
              <a:t>38% Faster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419856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33 clock cycles to encrypt vs paper's 51 cycles — parallel load eliminates serial loading overhead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023360"/>
            <a:ext cx="8595360" cy="914400"/>
          </a:xfrm>
          <a:prstGeom prst="roundRect">
            <a:avLst>
              <a:gd name="adj" fmla="val 10000"/>
            </a:avLst>
          </a:prstGeom>
          <a:solidFill>
            <a:srgbClr val="13233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42519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1B2A"/>
                </a:solidFill>
              </a:rPr>
              <a:t>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409651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</a:rPr>
              <a:t>Security Improved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425696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Key Dependent architecture with 16 S-boxes — same input gives different output — 2⁴ stronger vs cryptanalysis attacks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1283</Words>
  <Application>Microsoft Office PowerPoint</Application>
  <PresentationFormat>On-screen Show (16:9)</PresentationFormat>
  <Paragraphs>236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 Cipher FPGA Implementation</dc:title>
  <dc:subject>PptxGenJS Presentation</dc:subject>
  <dc:creator>Prince</dc:creator>
  <cp:lastModifiedBy>viya222527@gmail.com</cp:lastModifiedBy>
  <cp:revision>2</cp:revision>
  <dcterms:created xsi:type="dcterms:W3CDTF">2026-06-29T06:33:25Z</dcterms:created>
  <dcterms:modified xsi:type="dcterms:W3CDTF">2026-06-29T13:34:26Z</dcterms:modified>
</cp:coreProperties>
</file>